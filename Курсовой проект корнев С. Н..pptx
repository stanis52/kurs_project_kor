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6" r:id="rId19"/>
    <p:sldId id="277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EEEEEE"/>
    <a:srgbClr val="FFFFFF"/>
    <a:srgbClr val="E6E6E6"/>
    <a:srgbClr val="E0E0E0"/>
    <a:srgbClr val="F3F3F3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6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7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F2D34-3EC8-4E60-87B0-2524BDD13E4B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CB554-CD9A-4611-AE8E-FDA57757B5D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54217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08AB4-8B9B-4C8D-A4D9-B8E1532A2142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07B9F-F82C-4D97-8DCE-2214328B2D6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0776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B07B9F-F82C-4D97-8DCE-2214328B2D6D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0333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2D36A-9A3B-4A53-B36C-9A935ACFB556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B940A-90D9-4B6C-AF1C-DEF9EA0C4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3112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2D36A-9A3B-4A53-B36C-9A935ACFB556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B940A-90D9-4B6C-AF1C-DEF9EA0C4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010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2D36A-9A3B-4A53-B36C-9A935ACFB556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B940A-90D9-4B6C-AF1C-DEF9EA0C4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4272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2D36A-9A3B-4A53-B36C-9A935ACFB556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B940A-90D9-4B6C-AF1C-DEF9EA0C4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398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2D36A-9A3B-4A53-B36C-9A935ACFB556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B940A-90D9-4B6C-AF1C-DEF9EA0C4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358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2D36A-9A3B-4A53-B36C-9A935ACFB556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B940A-90D9-4B6C-AF1C-DEF9EA0C4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393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2D36A-9A3B-4A53-B36C-9A935ACFB556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B940A-90D9-4B6C-AF1C-DEF9EA0C4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240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2D36A-9A3B-4A53-B36C-9A935ACFB556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B940A-90D9-4B6C-AF1C-DEF9EA0C4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298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2D36A-9A3B-4A53-B36C-9A935ACFB556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B940A-90D9-4B6C-AF1C-DEF9EA0C4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918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2D36A-9A3B-4A53-B36C-9A935ACFB556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B940A-90D9-4B6C-AF1C-DEF9EA0C4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424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2D36A-9A3B-4A53-B36C-9A935ACFB556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B940A-90D9-4B6C-AF1C-DEF9EA0C4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2609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2D36A-9A3B-4A53-B36C-9A935ACFB556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B940A-90D9-4B6C-AF1C-DEF9EA0C4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090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96230" y="1385180"/>
            <a:ext cx="9822659" cy="371192"/>
          </a:xfrm>
        </p:spPr>
        <p:txBody>
          <a:bodyPr>
            <a:no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АВТОНОМНОЕ ПРОФЕССИОНАЛЬНОЕ ОБРАЗОВАТЕЛЬНОЕ </a:t>
            </a:r>
            <a:b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 ТЮМЕНСКОЙ ОБЛАСТИ </a:t>
            </a:r>
            <a:b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«ТЮМЕНСКИЙ ТЕХНИКУМ СТРОИТЕЛЬНОЙ ИНДУСТРИИ И ГОРОДСКОГО ХОЗЯЙСТВА»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270099" y="4081872"/>
            <a:ext cx="5574851" cy="1655762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Корнев С. Н.,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2 курса очной формы обучения,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ИСиП 24-9-1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Гончарова Т.В., должность: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 проф. дисциплин</a:t>
            </a:r>
          </a:p>
          <a:p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996230" y="2878381"/>
            <a:ext cx="9822659" cy="3711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 «Проектирование ИС «Гостиница»»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27934" y="6292158"/>
            <a:ext cx="215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Тюмень, 2026 г.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155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66387" y="1690688"/>
            <a:ext cx="9859225" cy="4237021"/>
          </a:xfrm>
        </p:spPr>
        <p:txBody>
          <a:bodyPr/>
          <a:lstStyle/>
          <a:p>
            <a:pPr marL="0" indent="442913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Гостиница – это здание для временного проживания, состоящее из определённого количества номеров, имеющее единое руководство, предоставляющее набор услуг.</a:t>
            </a:r>
          </a:p>
          <a:p>
            <a:pPr marL="0" indent="442913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процессы:</a:t>
            </a:r>
          </a:p>
          <a:p>
            <a:pPr>
              <a:buFont typeface="Yu Gothic UI Semilight" panose="020B0400000000000000" pitchFamily="34" charset="-128"/>
              <a:buChar char="­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гостей</a:t>
            </a:r>
          </a:p>
          <a:p>
            <a:pPr>
              <a:buFont typeface="Yu Gothic UI Semilight" panose="020B0400000000000000" pitchFamily="34" charset="-128"/>
              <a:buChar char="­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доступности номеров</a:t>
            </a:r>
          </a:p>
          <a:p>
            <a:pPr>
              <a:buFont typeface="Yu Gothic UI Semilight" panose="020B0400000000000000" pitchFamily="34" charset="-128"/>
              <a:buChar char="­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бронирования</a:t>
            </a:r>
          </a:p>
          <a:p>
            <a:pPr>
              <a:buFont typeface="Yu Gothic UI Semilight" panose="020B0400000000000000" pitchFamily="34" charset="-128"/>
              <a:buChar char="­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 стоимости </a:t>
            </a:r>
          </a:p>
          <a:p>
            <a:pPr>
              <a:buFont typeface="Yu Gothic UI Semilight" panose="020B0400000000000000" pitchFamily="34" charset="-128"/>
              <a:buChar char="­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71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362589" y="1755208"/>
            <a:ext cx="7466822" cy="33385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94823" y="1987680"/>
            <a:ext cx="6402354" cy="287356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Yu Gothic UI Semilight" panose="020B0400000000000000" pitchFamily="34" charset="-128"/>
              <a:buChar char="­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Ручная проверка доступности номеров</a:t>
            </a:r>
          </a:p>
          <a:p>
            <a:pPr>
              <a:lnSpc>
                <a:spcPct val="150000"/>
              </a:lnSpc>
              <a:buFont typeface="Yu Gothic UI Semilight" panose="020B0400000000000000" pitchFamily="34" charset="-128"/>
              <a:buChar char="­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неэффективный расчёт стоимости </a:t>
            </a:r>
          </a:p>
          <a:p>
            <a:pPr>
              <a:lnSpc>
                <a:spcPct val="150000"/>
              </a:lnSpc>
              <a:buFont typeface="Yu Gothic UI Semilight" panose="020B0400000000000000" pitchFamily="34" charset="-128"/>
              <a:buChar char="­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Разрозненность между службами</a:t>
            </a:r>
          </a:p>
          <a:p>
            <a:pPr>
              <a:lnSpc>
                <a:spcPct val="150000"/>
              </a:lnSpc>
              <a:buFont typeface="Yu Gothic UI Semilight" panose="020B0400000000000000" pitchFamily="34" charset="-128"/>
              <a:buChar char="­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Ручной ввод персональных данных</a:t>
            </a:r>
          </a:p>
          <a:p>
            <a:pPr>
              <a:buFont typeface="Yu Gothic UI Semilight" panose="020B0400000000000000" pitchFamily="34" charset="-128"/>
              <a:buChar char="­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88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5694023" y="1690687"/>
            <a:ext cx="6216538" cy="4223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579862" y="1678052"/>
            <a:ext cx="4951865" cy="42360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839788" y="1388998"/>
            <a:ext cx="5157787" cy="823912"/>
          </a:xfrm>
        </p:spPr>
        <p:txBody>
          <a:bodyPr>
            <a:normAutofit/>
          </a:bodyPr>
          <a:lstStyle/>
          <a:p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проекта: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579862" y="2430429"/>
            <a:ext cx="4767910" cy="3684588"/>
          </a:xfrm>
        </p:spPr>
        <p:txBody>
          <a:bodyPr>
            <a:normAutofit/>
          </a:bodyPr>
          <a:lstStyle/>
          <a:p>
            <a:pPr marL="0" indent="447675"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 программная реализация информационной системы для автоматизации основных бизнес-процессов гостиницы, обеспечивающей надежное хранение данных о номерах и гостях, ускорение оформления бронирований и точный расчет стоимости.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6172200" y="1363922"/>
            <a:ext cx="5183188" cy="823912"/>
          </a:xfrm>
        </p:spPr>
        <p:txBody>
          <a:bodyPr>
            <a:normAutofit/>
          </a:bodyPr>
          <a:lstStyle/>
          <a:p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бъект 6"/>
          <p:cNvSpPr>
            <a:spLocks noGrp="1"/>
          </p:cNvSpPr>
          <p:nvPr>
            <p:ph sz="quarter" idx="4"/>
          </p:nvPr>
        </p:nvSpPr>
        <p:spPr>
          <a:xfrm>
            <a:off x="5694023" y="2212910"/>
            <a:ext cx="6139542" cy="3774427"/>
          </a:xfrm>
        </p:spPr>
        <p:txBody>
          <a:bodyPr>
            <a:noAutofit/>
          </a:bodyPr>
          <a:lstStyle/>
          <a:p>
            <a:pPr marL="0" indent="354013"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детальный анализ предметной области, выявить проблемные зоны и обосновать целесообразность их реорганизации</a:t>
            </a:r>
          </a:p>
          <a:p>
            <a:pPr marL="0" indent="354013"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функциональные требования к будущей системе и спроектировать ее логику </a:t>
            </a:r>
          </a:p>
          <a:p>
            <a:pPr marL="0" indent="354013"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структуру реляционной базы данных для нормализованного хранения информации </a:t>
            </a:r>
          </a:p>
          <a:p>
            <a:pPr marL="0" indent="354013"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пользовательский интерфейс системы, отвечающий требованиям эргономики и удобства для администратора</a:t>
            </a:r>
          </a:p>
          <a:p>
            <a:pPr marL="0" indent="354013"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руководство для персонала гостиницы</a:t>
            </a:r>
          </a:p>
        </p:txBody>
      </p:sp>
    </p:spTree>
    <p:extLst>
      <p:ext uri="{BB962C8B-B14F-4D97-AF65-F5344CB8AC3E}">
        <p14:creationId xmlns:p14="http://schemas.microsoft.com/office/powerpoint/2010/main" val="374583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6226239" y="2093119"/>
            <a:ext cx="5570375" cy="25659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513184" y="2071396"/>
            <a:ext cx="5570375" cy="25659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 предмет исследования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>
          <a:xfrm>
            <a:off x="665163" y="2505075"/>
            <a:ext cx="5157787" cy="3684588"/>
          </a:xfrm>
        </p:spPr>
        <p:txBody>
          <a:bodyPr>
            <a:normAutofit/>
          </a:bodyPr>
          <a:lstStyle/>
          <a:p>
            <a:pPr marL="0" indent="447675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Бизнес-процессы гостиницы, связанные с бронированием номеров, регистрацией гостей, расчетом стоимости услуг и управлением номерами.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исследования.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4"/>
          </p:nvPr>
        </p:nvSpPr>
        <p:spPr>
          <a:xfrm>
            <a:off x="6316823" y="2505075"/>
            <a:ext cx="5495731" cy="3158607"/>
          </a:xfrm>
        </p:spPr>
        <p:txBody>
          <a:bodyPr/>
          <a:lstStyle/>
          <a:p>
            <a:pPr marL="0" indent="447675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система автоматизации гостиницы, методы проектирования баз данных и алгоритмы оптимизации работы администратора.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24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Контекстный уровень диаграммы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«Бронирование номера в гостинице»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731" y="1987420"/>
            <a:ext cx="5528538" cy="418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90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диаграммы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(1ур)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738" y="1577183"/>
            <a:ext cx="8036523" cy="486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3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Контекстный уровень диаграммы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«Бронирование номера в гостинице»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731" y="2379306"/>
            <a:ext cx="7704537" cy="2733868"/>
          </a:xfrm>
        </p:spPr>
      </p:pic>
    </p:spTree>
    <p:extLst>
      <p:ext uri="{BB962C8B-B14F-4D97-AF65-F5344CB8AC3E}">
        <p14:creationId xmlns:p14="http://schemas.microsoft.com/office/powerpoint/2010/main" val="406729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диаграммы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(1ур)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331" y="1690688"/>
            <a:ext cx="7641337" cy="4699303"/>
          </a:xfrm>
        </p:spPr>
      </p:pic>
    </p:spTree>
    <p:extLst>
      <p:ext uri="{BB962C8B-B14F-4D97-AF65-F5344CB8AC3E}">
        <p14:creationId xmlns:p14="http://schemas.microsoft.com/office/powerpoint/2010/main" val="259414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Техническое задание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94521" y="1825625"/>
            <a:ext cx="5525279" cy="4351338"/>
          </a:xfrm>
        </p:spPr>
        <p:txBody>
          <a:bodyPr>
            <a:normAutofit fontScale="92500" lnSpcReduction="10000"/>
          </a:bodyPr>
          <a:lstStyle/>
          <a:p>
            <a:pPr marL="0" indent="269875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цель разработки ИС: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таких бизнес-процессов, такие как управление номерами, регистрация клиентов и бронирование номеров.</a:t>
            </a:r>
          </a:p>
          <a:p>
            <a:pPr marL="0" indent="269875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разработки: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269875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планирование и анализ</a:t>
            </a:r>
          </a:p>
          <a:p>
            <a:pPr marL="0" indent="269875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проектирование</a:t>
            </a:r>
          </a:p>
          <a:p>
            <a:pPr marL="0" indent="269875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разработка</a:t>
            </a:r>
          </a:p>
          <a:p>
            <a:pPr marL="0" indent="269875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тестирование </a:t>
            </a:r>
          </a:p>
          <a:p>
            <a:pPr marL="0" indent="269875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внедрение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5868955" y="1825624"/>
            <a:ext cx="6120882" cy="4486275"/>
          </a:xfrm>
        </p:spPr>
        <p:txBody>
          <a:bodyPr>
            <a:normAutofit fontScale="92500" lnSpcReduction="10000"/>
          </a:bodyPr>
          <a:lstStyle/>
          <a:p>
            <a:pPr marL="0" indent="269875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требования:</a:t>
            </a:r>
          </a:p>
          <a:p>
            <a:pPr>
              <a:buFont typeface="Yu Gothic UI Semilight" panose="020B0400000000000000" pitchFamily="34" charset="-128"/>
              <a:buChar char="­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гостей с автоматической проверкой на дубликаты</a:t>
            </a:r>
          </a:p>
          <a:p>
            <a:pPr>
              <a:buFont typeface="Yu Gothic UI Semilight" panose="020B0400000000000000" pitchFamily="34" charset="-128"/>
              <a:buChar char="­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Добавление, редактирование и удаление записей о номерах</a:t>
            </a:r>
          </a:p>
          <a:p>
            <a:pPr>
              <a:buFont typeface="Yu Gothic UI Semilight" panose="020B0400000000000000" pitchFamily="34" charset="-128"/>
              <a:buChar char="­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 проверка доступности номерного фонда на выбранный период.</a:t>
            </a:r>
          </a:p>
          <a:p>
            <a:pPr>
              <a:buFont typeface="Yu Gothic UI Semilight" panose="020B0400000000000000" pitchFamily="34" charset="-128"/>
              <a:buChar char="­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Автоматический расчёт стоимости проживания</a:t>
            </a:r>
          </a:p>
          <a:p>
            <a:pPr>
              <a:buFont typeface="Yu Gothic UI Semilight" panose="020B0400000000000000" pitchFamily="34" charset="-128"/>
              <a:buChar char="­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формирование пакета документов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30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374" y="365125"/>
            <a:ext cx="97536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 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UseCase)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347" y="1690688"/>
            <a:ext cx="4095653" cy="491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2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043404"/>
            <a:ext cx="7081935" cy="8117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деятельности 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Activity)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307" y="0"/>
            <a:ext cx="5082073" cy="6867215"/>
          </a:xfrm>
        </p:spPr>
      </p:pic>
    </p:spTree>
    <p:extLst>
      <p:ext uri="{BB962C8B-B14F-4D97-AF65-F5344CB8AC3E}">
        <p14:creationId xmlns:p14="http://schemas.microsoft.com/office/powerpoint/2010/main" val="388312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1257" y="1568774"/>
            <a:ext cx="7072604" cy="140769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 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861" y="1314"/>
            <a:ext cx="4650272" cy="6856686"/>
          </a:xfrm>
        </p:spPr>
      </p:pic>
    </p:spTree>
    <p:extLst>
      <p:ext uri="{BB962C8B-B14F-4D97-AF65-F5344CB8AC3E}">
        <p14:creationId xmlns:p14="http://schemas.microsoft.com/office/powerpoint/2010/main" val="25800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044" y="141190"/>
            <a:ext cx="97536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(Class)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186" y="1466753"/>
            <a:ext cx="6733315" cy="4856205"/>
          </a:xfrm>
        </p:spPr>
      </p:pic>
    </p:spTree>
    <p:extLst>
      <p:ext uri="{BB962C8B-B14F-4D97-AF65-F5344CB8AC3E}">
        <p14:creationId xmlns:p14="http://schemas.microsoft.com/office/powerpoint/2010/main" val="427566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374" y="0"/>
            <a:ext cx="9753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модель данных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242" y="1045028"/>
            <a:ext cx="6359863" cy="5579804"/>
          </a:xfrm>
        </p:spPr>
      </p:pic>
    </p:spTree>
    <p:extLst>
      <p:ext uri="{BB962C8B-B14F-4D97-AF65-F5344CB8AC3E}">
        <p14:creationId xmlns:p14="http://schemas.microsoft.com/office/powerpoint/2010/main" val="225199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374" y="365125"/>
            <a:ext cx="9753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Аналитические запросы к базе данных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11021"/>
            <a:ext cx="10162592" cy="730963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 заказов по месяцу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808515" y="2341984"/>
            <a:ext cx="6517104" cy="376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0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374" y="223319"/>
            <a:ext cx="9753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Аналитические запросы к базе данных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8724" y="1430420"/>
            <a:ext cx="10636899" cy="783771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полного реестра гостей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57279" y="2058404"/>
            <a:ext cx="5939790" cy="462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98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374" y="365125"/>
            <a:ext cx="9753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Аналитические запросы к базе данных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43242" y="1517714"/>
            <a:ext cx="10535816" cy="637657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Детализация заказов с указанием ответственного сотрудника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805072" y="2155371"/>
            <a:ext cx="8612155" cy="425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36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374" y="104951"/>
            <a:ext cx="9753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193" y="1253230"/>
            <a:ext cx="8745961" cy="526970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72875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31713" y="0"/>
            <a:ext cx="9753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12" y="1791475"/>
            <a:ext cx="5641473" cy="33879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893" y="1791476"/>
            <a:ext cx="5614035" cy="33879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233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374" y="365125"/>
            <a:ext cx="9753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3467" y="1843732"/>
            <a:ext cx="10515600" cy="4351338"/>
          </a:xfrm>
        </p:spPr>
        <p:txBody>
          <a:bodyPr>
            <a:normAutofit/>
          </a:bodyPr>
          <a:lstStyle/>
          <a:p>
            <a:pPr marL="0" indent="447675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цель курсового проекта выполнена, спроектирована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система «BedBook» для автоматизации гостиничных процессов: бронирования, заселения и учёта номерного фонда. Моделирование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реляционной БД обеспечили переход от ручного учёта к цифровому контуру, исключив ошибки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ввода. Разработанный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эргономичный интерфейс и SQL-запросы ускоряют типовые операции ресепшн. Система повышает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прозрачность, быстроту </a:t>
            </a:r>
            <a:r>
              <a:rPr lang="ru-RU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надежность управления, что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укрепляет конкурентные позиции отеля и улучшает качество обслуживания гостей.</a:t>
            </a:r>
          </a:p>
        </p:txBody>
      </p:sp>
    </p:spTree>
    <p:extLst>
      <p:ext uri="{BB962C8B-B14F-4D97-AF65-F5344CB8AC3E}">
        <p14:creationId xmlns:p14="http://schemas.microsoft.com/office/powerpoint/2010/main" val="185240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2743200" y="1707502"/>
            <a:ext cx="6774024" cy="19594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808514" y="1772816"/>
            <a:ext cx="6634065" cy="1800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ый треугольник 4"/>
          <p:cNvSpPr/>
          <p:nvPr/>
        </p:nvSpPr>
        <p:spPr>
          <a:xfrm>
            <a:off x="2808514" y="1772816"/>
            <a:ext cx="6615404" cy="1800808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9416" y="2001107"/>
            <a:ext cx="9753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46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455</Words>
  <Application>Microsoft Office PowerPoint</Application>
  <PresentationFormat>Широкоэкранный</PresentationFormat>
  <Paragraphs>69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Yu Gothic UI Semilight</vt:lpstr>
      <vt:lpstr>Arial</vt:lpstr>
      <vt:lpstr>Calibri</vt:lpstr>
      <vt:lpstr>Calibri Light</vt:lpstr>
      <vt:lpstr>Times New Roman</vt:lpstr>
      <vt:lpstr>Тема Office</vt:lpstr>
      <vt:lpstr>ГОСУДАРСТВЕННОЕ АВТОНОМНОЕ ПРОФЕССИОНАЛЬНОЕ ОБРАЗОВАТЕЛЬНОЕ  УЧРЕЖДЕНИЕ  ТЮМЕНСКОЙ ОБЛАСТИ  «ТЮМЕНСКИЙ ТЕХНИКУМ СТРОИТЕЛЬНОЙ ИНДУСТРИИ И ГОРОДСКОГО ХОЗЯЙСТВА»</vt:lpstr>
      <vt:lpstr>Предметная область</vt:lpstr>
      <vt:lpstr>Проблематика</vt:lpstr>
      <vt:lpstr>Цели и задачи</vt:lpstr>
      <vt:lpstr>Объект и предмет исследования</vt:lpstr>
      <vt:lpstr>Контекстный уровень диаграммы IDEF0 «Бронирование номера в гостинице»</vt:lpstr>
      <vt:lpstr>Декомпозиция диаграммы IDEF0 (1ур)</vt:lpstr>
      <vt:lpstr>Контекстный уровень диаграммы  DFD «Бронирование номера в гостинице»</vt:lpstr>
      <vt:lpstr>Декомпозиция диаграммы DFD (1ур)</vt:lpstr>
      <vt:lpstr>Техническое задание</vt:lpstr>
      <vt:lpstr>UML диаграмма вариантов использования (UseCase)</vt:lpstr>
      <vt:lpstr>UML диаграмма деятельности (Activity)</vt:lpstr>
      <vt:lpstr>UML диаграмма последовательности (Sequence)</vt:lpstr>
      <vt:lpstr>UML диаграмма классов (Class)</vt:lpstr>
      <vt:lpstr>Логическая модель данных</vt:lpstr>
      <vt:lpstr>Аналитические запросы к базе данных</vt:lpstr>
      <vt:lpstr>Аналитические запросы к базе данных</vt:lpstr>
      <vt:lpstr>Аналитические запросы к базе данных</vt:lpstr>
      <vt:lpstr>Пользовательский интерфейс</vt:lpstr>
      <vt:lpstr>Пользовательский интерфейс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ГОСУДАРСТВЕННОЕ АВТОНОМНОЕ ПРОФЕССИОНАЛЬНОЕ ОБРАЗОВАТЕЛЬНОЕ  УЧРЕЖДЕНИЕ  ТЮМЕНСКОЙ ОБЛАСТИ  «ТЮМЕНСКИЙ ТЕХНИКУМ СТРОИТЕЛЬНОЙ ИНДУСТРИИ И ГОРОДСКОГО ХОЗЯЙСТВА»</dc:title>
  <dc:creator>Он Карнев</dc:creator>
  <cp:lastModifiedBy>Он Карнев</cp:lastModifiedBy>
  <cp:revision>19</cp:revision>
  <dcterms:created xsi:type="dcterms:W3CDTF">2026-05-11T10:51:47Z</dcterms:created>
  <dcterms:modified xsi:type="dcterms:W3CDTF">2026-05-11T18:15:27Z</dcterms:modified>
</cp:coreProperties>
</file>